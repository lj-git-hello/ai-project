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99" r:id="rId3"/>
    <p:sldId id="300" r:id="rId4"/>
    <p:sldId id="301" r:id="rId5"/>
    <p:sldId id="29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DBF7"/>
    <a:srgbClr val="2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F0B0-5A9B-469E-A034-DE97A905742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35C40-5B42-440F-BB7E-07CDDE025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254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C35C40-5B42-440F-BB7E-07CDDE025CA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56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599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 userDrawn="1"/>
        </p:nvSpPr>
        <p:spPr>
          <a:xfrm>
            <a:off x="8924925" y="6257925"/>
            <a:ext cx="3762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effectLst/>
                <a:latin typeface="Adobe 仿宋 Std R" panose="02020400000000000000" pitchFamily="18" charset="-122"/>
                <a:ea typeface="Adobe 仿宋 Std R" panose="02020400000000000000" pitchFamily="18" charset="-122"/>
              </a:rPr>
              <a:t>让学习更有效率</a:t>
            </a:r>
            <a:endParaRPr lang="en-US" altLang="zh-CN" sz="1400" dirty="0">
              <a:effectLst/>
              <a:latin typeface="Adobe 仿宋 Std R" panose="02020400000000000000" pitchFamily="18" charset="-122"/>
              <a:ea typeface="Adobe 仿宋 Std R" panose="020204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393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0962908-B897-4E2E-A175-85C5ACA48282}"/>
              </a:ext>
            </a:extLst>
          </p:cNvPr>
          <p:cNvSpPr txBox="1"/>
          <p:nvPr/>
        </p:nvSpPr>
        <p:spPr>
          <a:xfrm>
            <a:off x="1276350" y="2253271"/>
            <a:ext cx="96393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 err="1">
                <a:solidFill>
                  <a:schemeClr val="accent1"/>
                </a:solidFill>
                <a:ea typeface="思源黑体 CN Light" panose="020B0300000000000000" pitchFamily="34" charset="-122"/>
              </a:rPr>
              <a:t>openai</a:t>
            </a:r>
            <a:r>
              <a:rPr lang="zh-CN" altLang="en-US" sz="6600" b="1" dirty="0">
                <a:solidFill>
                  <a:schemeClr val="accent1"/>
                </a:solidFill>
                <a:ea typeface="思源黑体 CN Light" panose="020B0300000000000000" pitchFamily="34" charset="-122"/>
              </a:rPr>
              <a:t>与</a:t>
            </a:r>
            <a:r>
              <a:rPr lang="en-US" altLang="zh-CN" sz="6600" b="1" dirty="0" err="1">
                <a:solidFill>
                  <a:schemeClr val="accent1"/>
                </a:solidFill>
                <a:ea typeface="思源黑体 CN Light" panose="020B0300000000000000" pitchFamily="34" charset="-122"/>
              </a:rPr>
              <a:t>langchain</a:t>
            </a:r>
            <a:r>
              <a:rPr lang="zh-CN" altLang="en-US" sz="6600" b="1" dirty="0">
                <a:solidFill>
                  <a:schemeClr val="accent1"/>
                </a:solidFill>
                <a:ea typeface="思源黑体 CN Light" panose="020B0300000000000000" pitchFamily="34" charset="-122"/>
              </a:rPr>
              <a:t>开发</a:t>
            </a:r>
            <a:endParaRPr lang="zh-CN" altLang="en-US" sz="6600" b="1" dirty="0">
              <a:solidFill>
                <a:schemeClr val="accent2"/>
              </a:solidFill>
              <a:ea typeface="思源黑体 CN Light" panose="020B03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920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</a:t>
            </a: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首先明确一下概念上的区别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5757DF-49A9-4AB4-A95C-54A023703E6A}"/>
              </a:ext>
            </a:extLst>
          </p:cNvPr>
          <p:cNvSpPr/>
          <p:nvPr/>
        </p:nvSpPr>
        <p:spPr>
          <a:xfrm>
            <a:off x="465667" y="1253067"/>
            <a:ext cx="245533" cy="245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6AFA7482-FC39-4FB6-84E8-C1A05006E169}"/>
              </a:ext>
            </a:extLst>
          </p:cNvPr>
          <p:cNvSpPr/>
          <p:nvPr/>
        </p:nvSpPr>
        <p:spPr>
          <a:xfrm>
            <a:off x="465668" y="1636722"/>
            <a:ext cx="9931400" cy="151074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C8C892-36AB-48F2-A769-B81AE9F0EDBE}"/>
              </a:ext>
            </a:extLst>
          </p:cNvPr>
          <p:cNvSpPr txBox="1"/>
          <p:nvPr/>
        </p:nvSpPr>
        <p:spPr>
          <a:xfrm>
            <a:off x="804334" y="1191167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1A0EEE-5800-4774-BE0B-E19A3396B67B}"/>
              </a:ext>
            </a:extLst>
          </p:cNvPr>
          <p:cNvSpPr txBox="1"/>
          <p:nvPr/>
        </p:nvSpPr>
        <p:spPr>
          <a:xfrm>
            <a:off x="465669" y="1640280"/>
            <a:ext cx="9931399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只有按照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协议发送请求到接口这一个功能，等于一个专门请求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协议接口的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axios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必备的其他功能都得自己手写。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但也正因为自己手写，所以它具有很大的灵活性，更轻量。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EA86BE-DDE6-43B3-BA9B-12FCE1BA1C4E}"/>
              </a:ext>
            </a:extLst>
          </p:cNvPr>
          <p:cNvSpPr/>
          <p:nvPr/>
        </p:nvSpPr>
        <p:spPr>
          <a:xfrm>
            <a:off x="465665" y="3781672"/>
            <a:ext cx="245533" cy="2455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717254E1-01EB-4652-A713-3FCB14E46DC8}"/>
              </a:ext>
            </a:extLst>
          </p:cNvPr>
          <p:cNvSpPr/>
          <p:nvPr/>
        </p:nvSpPr>
        <p:spPr>
          <a:xfrm>
            <a:off x="465666" y="4165328"/>
            <a:ext cx="9931400" cy="107261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1BCD16D-129C-4114-881E-0CA0B2470829}"/>
              </a:ext>
            </a:extLst>
          </p:cNvPr>
          <p:cNvSpPr txBox="1"/>
          <p:nvPr/>
        </p:nvSpPr>
        <p:spPr>
          <a:xfrm>
            <a:off x="804332" y="371977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F7753B-862F-4516-B445-446E5F73C638}"/>
              </a:ext>
            </a:extLst>
          </p:cNvPr>
          <p:cNvSpPr txBox="1"/>
          <p:nvPr/>
        </p:nvSpPr>
        <p:spPr>
          <a:xfrm>
            <a:off x="465667" y="4168885"/>
            <a:ext cx="993139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是一系列库的合集，它里面的各种库集成了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agent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开发的各种需要。我们不用自己手写去完成各种功能。只需要用库直接搞定就行</a:t>
            </a:r>
          </a:p>
        </p:txBody>
      </p:sp>
    </p:spTree>
    <p:extLst>
      <p:ext uri="{BB962C8B-B14F-4D97-AF65-F5344CB8AC3E}">
        <p14:creationId xmlns:p14="http://schemas.microsoft.com/office/powerpoint/2010/main" val="3507183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</a:t>
            </a: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对比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93E636A-E817-403A-B895-07A8BCBD9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757483"/>
              </p:ext>
            </p:extLst>
          </p:nvPr>
        </p:nvGraphicFramePr>
        <p:xfrm>
          <a:off x="211670" y="1015999"/>
          <a:ext cx="11437932" cy="467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330">
                  <a:extLst>
                    <a:ext uri="{9D8B030D-6E8A-4147-A177-3AD203B41FA5}">
                      <a16:colId xmlns:a16="http://schemas.microsoft.com/office/drawing/2014/main" val="825847050"/>
                    </a:ext>
                  </a:extLst>
                </a:gridCol>
                <a:gridCol w="4707467">
                  <a:extLst>
                    <a:ext uri="{9D8B030D-6E8A-4147-A177-3AD203B41FA5}">
                      <a16:colId xmlns:a16="http://schemas.microsoft.com/office/drawing/2014/main" val="2404826234"/>
                    </a:ext>
                  </a:extLst>
                </a:gridCol>
                <a:gridCol w="4656135">
                  <a:extLst>
                    <a:ext uri="{9D8B030D-6E8A-4147-A177-3AD203B41FA5}">
                      <a16:colId xmlns:a16="http://schemas.microsoft.com/office/drawing/2014/main" val="3692694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langchain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78249"/>
                  </a:ext>
                </a:extLst>
              </a:tr>
              <a:tr h="4758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请求大模型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协议的接口专用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包含各种用于请求主流协议接口库，可以快速兼容。只需要换个子库就行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998512"/>
                  </a:ext>
                </a:extLst>
              </a:tr>
              <a:tr h="58394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对话记录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开发者自己去写代码储存和携带对话记录到请求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可以自动管理对话记录，自动携带在请求上（当然你非要也可以自己写）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67458"/>
                  </a:ext>
                </a:extLst>
              </a:tr>
              <a:tr h="4927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Function tool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不管理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function tool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Function tool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的调用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-》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回传给大模型这个循环需要自己写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可以把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function tool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有哪些和具体的执行代码，一起交给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langchain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管理。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他会自动完成调用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-》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回传给大模型循环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900701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Mcp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开发者自己用其他库接入，执行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mcp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的工具也需要开发者借助其他库调用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可以直接托管给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langchain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，你注册一下就行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0845321"/>
                  </a:ext>
                </a:extLst>
              </a:tr>
              <a:tr h="5249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向量化与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RAG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开发者自己用其他库做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有对应的子库完成读取，切割，向量化，检索等一条龙服务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595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753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</a:t>
            </a:r>
            <a:r>
              <a:rPr lang="en-US" altLang="zh-CN" sz="2000" dirty="0" err="1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langchain</a:t>
            </a: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的注意事项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279C6D00-8CDA-4CD5-9EC1-6ECCB3627363}"/>
              </a:ext>
            </a:extLst>
          </p:cNvPr>
          <p:cNvSpPr/>
          <p:nvPr/>
        </p:nvSpPr>
        <p:spPr>
          <a:xfrm>
            <a:off x="211670" y="1145657"/>
            <a:ext cx="10710330" cy="138587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6972AE-B6DD-4A92-A2A1-F780217547DB}"/>
              </a:ext>
            </a:extLst>
          </p:cNvPr>
          <p:cNvSpPr txBox="1"/>
          <p:nvPr/>
        </p:nvSpPr>
        <p:spPr>
          <a:xfrm>
            <a:off x="211670" y="1298385"/>
            <a:ext cx="10159997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536AC8-0EDC-431F-BF3D-CFBFF183A296}"/>
              </a:ext>
            </a:extLst>
          </p:cNvPr>
          <p:cNvSpPr txBox="1"/>
          <p:nvPr/>
        </p:nvSpPr>
        <p:spPr>
          <a:xfrm>
            <a:off x="211669" y="1171385"/>
            <a:ext cx="10159997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前所有的功能是做成了一个全家桶，你只需要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npm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install </a:t>
            </a:r>
            <a:r>
              <a:rPr lang="en-US" altLang="zh-CN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就可以用各种功能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</a:t>
            </a: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</a:t>
            </a:r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后，做了拆分，各种功能分成了各种子库，这些子库分别负责不同的事情，你需要自己单独安装</a:t>
            </a:r>
            <a:endParaRPr lang="en-US" altLang="zh-CN" sz="16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F172518-DEA3-488F-97DA-B03F6442F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512845"/>
              </p:ext>
            </p:extLst>
          </p:nvPr>
        </p:nvGraphicFramePr>
        <p:xfrm>
          <a:off x="763950" y="3115733"/>
          <a:ext cx="934524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5717">
                  <a:extLst>
                    <a:ext uri="{9D8B030D-6E8A-4147-A177-3AD203B41FA5}">
                      <a16:colId xmlns:a16="http://schemas.microsoft.com/office/drawing/2014/main" val="3700401200"/>
                    </a:ext>
                  </a:extLst>
                </a:gridCol>
                <a:gridCol w="5579532">
                  <a:extLst>
                    <a:ext uri="{9D8B030D-6E8A-4147-A177-3AD203B41FA5}">
                      <a16:colId xmlns:a16="http://schemas.microsoft.com/office/drawing/2014/main" val="4080826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860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基本的功能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npm</a:t>
                      </a:r>
                      <a:r>
                        <a:rPr lang="en-US" altLang="zh-CN" dirty="0"/>
                        <a:t> install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/core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672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请求</a:t>
                      </a:r>
                      <a:r>
                        <a:rPr lang="en-US" altLang="zh-CN" dirty="0" err="1"/>
                        <a:t>openai</a:t>
                      </a:r>
                      <a:r>
                        <a:rPr lang="zh-CN" altLang="en-US" dirty="0"/>
                        <a:t>协议的大模型接口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npm</a:t>
                      </a:r>
                      <a:r>
                        <a:rPr lang="en-US" altLang="zh-CN" dirty="0"/>
                        <a:t> install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openai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95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请求</a:t>
                      </a:r>
                      <a:r>
                        <a:rPr lang="en-US" altLang="zh-CN" dirty="0"/>
                        <a:t>anthropic</a:t>
                      </a:r>
                      <a:r>
                        <a:rPr lang="zh-CN" altLang="en-US" dirty="0"/>
                        <a:t>协议的大模型接口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npm</a:t>
                      </a:r>
                      <a:r>
                        <a:rPr lang="en-US" altLang="zh-CN" dirty="0"/>
                        <a:t> install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dirty="0"/>
                        <a:t>anthropic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588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接入</a:t>
                      </a:r>
                      <a:r>
                        <a:rPr lang="en-US" altLang="zh-CN" dirty="0" err="1"/>
                        <a:t>mcp</a:t>
                      </a:r>
                      <a:r>
                        <a:rPr lang="zh-CN" altLang="en-US" dirty="0"/>
                        <a:t>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npm</a:t>
                      </a:r>
                      <a:r>
                        <a:rPr lang="en-US" altLang="zh-CN" dirty="0"/>
                        <a:t> install 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langchain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mcp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-adapters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853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38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CB7955C-211A-49DA-9E60-C5C090DA3663}"/>
              </a:ext>
            </a:extLst>
          </p:cNvPr>
          <p:cNvSpPr txBox="1"/>
          <p:nvPr/>
        </p:nvSpPr>
        <p:spPr>
          <a:xfrm>
            <a:off x="211670" y="282709"/>
            <a:ext cx="9232562" cy="5096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565">
              <a:lnSpc>
                <a:spcPct val="150000"/>
              </a:lnSpc>
              <a:buClr>
                <a:srgbClr val="1577BA"/>
              </a:buClr>
            </a:pPr>
            <a:r>
              <a:rPr lang="en-US" altLang="zh-CN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 </a:t>
            </a: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为什么我前面一直用</a:t>
            </a:r>
            <a:r>
              <a:rPr lang="en-US" altLang="zh-CN" sz="2000" dirty="0" err="1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openai</a:t>
            </a:r>
            <a:r>
              <a:rPr lang="zh-CN" altLang="en-US" sz="2000" dirty="0">
                <a:solidFill>
                  <a:schemeClr val="tx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来讲</a:t>
            </a:r>
            <a:endParaRPr lang="en-US" altLang="zh-CN" sz="2000" dirty="0">
              <a:solidFill>
                <a:schemeClr val="tx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99092B-2D24-4748-AB97-29DC91035A43}"/>
              </a:ext>
            </a:extLst>
          </p:cNvPr>
          <p:cNvSpPr/>
          <p:nvPr/>
        </p:nvSpPr>
        <p:spPr>
          <a:xfrm>
            <a:off x="211670" y="344501"/>
            <a:ext cx="170396" cy="447304"/>
          </a:xfrm>
          <a:prstGeom prst="rect">
            <a:avLst/>
          </a:prstGeom>
          <a:solidFill>
            <a:srgbClr val="9AD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038524E1-8BF1-4248-9F4D-78C13D4F3969}"/>
              </a:ext>
            </a:extLst>
          </p:cNvPr>
          <p:cNvSpPr/>
          <p:nvPr/>
        </p:nvSpPr>
        <p:spPr>
          <a:xfrm>
            <a:off x="211670" y="890345"/>
            <a:ext cx="11302997" cy="28434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67466" tIns="67466" rIns="67466" bIns="67466" anchor="ctr"/>
          <a:lstStyle/>
          <a:p>
            <a:pPr algn="just">
              <a:defRPr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32BEFC-D15A-4F07-A529-01EE871DFED2}"/>
              </a:ext>
            </a:extLst>
          </p:cNvPr>
          <p:cNvSpPr txBox="1"/>
          <p:nvPr/>
        </p:nvSpPr>
        <p:spPr>
          <a:xfrm>
            <a:off x="211670" y="1015660"/>
            <a:ext cx="10939603" cy="2264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取决于我做的都是基于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做的，因为定制性要求高，用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多有缚手缚脚。得按照他的逻辑走。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手写功能，作为学习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开发的各种概念比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更合适。手写实现一遍各种操作，肯定是学的更扎实。用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这种封装好的去做，我们体会不到原理，对于这些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核心操作和概念，也只是记住了怎么调用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吐槽！！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langchain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主要精力在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nodejs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做的真的差，经常有莫名奇妙的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和版本问题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241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5705</TotalTime>
  <Words>521</Words>
  <Application>Microsoft Office PowerPoint</Application>
  <PresentationFormat>宽屏</PresentationFormat>
  <Paragraphs>49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Adobe 仿宋 Std R</vt:lpstr>
      <vt:lpstr>Helvetica Neue Medium</vt:lpstr>
      <vt:lpstr>等线</vt:lpstr>
      <vt:lpstr>等线 Light</vt:lpstr>
      <vt:lpstr>思源黑体 CN Light</vt:lpstr>
      <vt:lpstr>思源黑体 CN Normal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2012dnd.com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2012dnd.com</dc:creator>
  <cp:lastModifiedBy>Administrator</cp:lastModifiedBy>
  <cp:revision>606</cp:revision>
  <dcterms:created xsi:type="dcterms:W3CDTF">2022-03-28T09:24:54Z</dcterms:created>
  <dcterms:modified xsi:type="dcterms:W3CDTF">2026-04-09T12:20:56Z</dcterms:modified>
</cp:coreProperties>
</file>